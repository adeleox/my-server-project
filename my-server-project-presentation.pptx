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6" r:id="rId9"/>
    <p:sldId id="267" r:id="rId10"/>
    <p:sldId id="262" r:id="rId11"/>
    <p:sldId id="268" r:id="rId12"/>
    <p:sldId id="264" r:id="rId13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964" y="-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7895EF-0D9D-4127-804A-8E019DDAA85F}" type="datetimeFigureOut">
              <a:rPr lang="LID4096" smtClean="0"/>
              <a:t>01/06/2026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DF7EF8-C609-4C51-A370-CA4E9FD4850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35909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DF7EF8-C609-4C51-A370-CA4E9FD48509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83459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58903-D58A-C03C-7FFF-8A36729E8F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63F8B9-964E-6941-9771-902E9E6E3A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FCE4A-153B-27FA-3582-F0950A9EE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A49F6-743E-4CEC-98E7-763B8A1DA06D}" type="datetimeFigureOut">
              <a:rPr lang="LID4096" smtClean="0"/>
              <a:t>01/06/2026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1C283-D562-A233-821E-CE89195E6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E0D21-7246-DE0C-D71E-EB3A28167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CAEC-7AB9-4BC2-8EE7-A01176707F4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52008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B2B2-786A-03D7-2EC8-365E9C4CB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5FFF2-8F66-4F72-600D-5A67232D4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19B65-A466-208E-6DAE-E2EA930E1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A49F6-743E-4CEC-98E7-763B8A1DA06D}" type="datetimeFigureOut">
              <a:rPr lang="LID4096" smtClean="0"/>
              <a:t>01/06/2026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8E072-0A12-131A-09AF-AEC1A217F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FC6CB-FF81-7CAE-D09D-A2E58CC80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CAEC-7AB9-4BC2-8EE7-A01176707F4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99058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D5EC6-3C11-B2DE-EDDE-B448CE7C5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8CAA1-872B-61F2-914A-DB9DB6FEF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F6AAC-5534-DAF8-B0B7-212395074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A49F6-743E-4CEC-98E7-763B8A1DA06D}" type="datetimeFigureOut">
              <a:rPr lang="LID4096" smtClean="0"/>
              <a:t>01/06/2026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27BA0-C1C7-3E7E-E85B-420EC524A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58C6F-2900-ED14-7C03-D154A98D8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CAEC-7AB9-4BC2-8EE7-A01176707F4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51236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A099E-DD7B-9C9F-8D2F-3BA54405E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BB04C-BDE2-7584-0203-DEDBF2C97B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DC912-9171-F591-EE27-DD14D2AB2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3C87C-4B8D-26DE-F226-0301FDC7D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A49F6-743E-4CEC-98E7-763B8A1DA06D}" type="datetimeFigureOut">
              <a:rPr lang="LID4096" smtClean="0"/>
              <a:t>01/06/2026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C870E-C2FD-8035-F4F1-CE16ACEFF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4F071-6ECE-1E3C-1C72-BA63289C7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CAEC-7AB9-4BC2-8EE7-A01176707F4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1274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D50B6-BFF2-0F83-61A2-71EBAEA1D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9295B-7AF8-0A7E-8C06-C7A88B23E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24A95-4F87-8D9D-88F3-E7641CFD9E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8A4FDE-1756-57E0-FE3E-A7151243DC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8DC613-7F5B-8078-4653-213AB420D9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F96054-6FC2-1D40-5D68-D2E2753EC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A49F6-743E-4CEC-98E7-763B8A1DA06D}" type="datetimeFigureOut">
              <a:rPr lang="LID4096" smtClean="0"/>
              <a:t>01/06/2026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79C153-CD1B-ACC2-8DBD-E47BCF8DD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EFFD23-B45E-2EC8-F559-FF770C5FB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CAEC-7AB9-4BC2-8EE7-A01176707F4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64858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76E87-EFB6-5FA2-A0AD-18ECDFC89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E3EF88-05C8-48C1-5751-C810E3A75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A49F6-743E-4CEC-98E7-763B8A1DA06D}" type="datetimeFigureOut">
              <a:rPr lang="LID4096" smtClean="0"/>
              <a:t>01/06/2026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8CFE3-150D-9A74-2375-54EA15AAA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85B801-95BE-D470-8F28-8B2076EDD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CAEC-7AB9-4BC2-8EE7-A01176707F4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9231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763E87-BF34-DFB4-8B2B-1D3178841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A49F6-743E-4CEC-98E7-763B8A1DA06D}" type="datetimeFigureOut">
              <a:rPr lang="LID4096" smtClean="0"/>
              <a:t>01/06/2026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A39A45-CC78-3145-9546-4343245EA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4FB0A-23B5-A471-14B0-B2A0CA941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CAEC-7AB9-4BC2-8EE7-A01176707F4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81981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6C088-F9BD-0282-9BBB-6F4330B42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C2221-7398-C732-8619-C038005C3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1F6B1-D200-7339-ADB0-8BB493428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59D74B-A5E6-7236-65B8-7E5363364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A49F6-743E-4CEC-98E7-763B8A1DA06D}" type="datetimeFigureOut">
              <a:rPr lang="LID4096" smtClean="0"/>
              <a:t>01/06/2026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41166-10DA-C3EA-EF08-75B08CE2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31C1A-5AE0-FC27-9AD2-9A8F20725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CAEC-7AB9-4BC2-8EE7-A01176707F4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4708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1FD56-65C9-105C-B86D-87707E697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36EE34-7C23-F539-23FA-8CF958E0C4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EF2D20-0E05-B64B-44A7-F35ED311C1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7254D9-1D65-886B-EC13-F91408823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A49F6-743E-4CEC-98E7-763B8A1DA06D}" type="datetimeFigureOut">
              <a:rPr lang="LID4096" smtClean="0"/>
              <a:t>01/06/2026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07F68-27F5-57C2-9B46-7DC0E5025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B327E4-5954-A06E-9BD4-4648A36C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CAEC-7AB9-4BC2-8EE7-A01176707F4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17394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82515-D645-7C56-24E3-069C2546D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FBB9E3-313E-5620-347C-7C7DA0B5CC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D0A1A-6637-FD33-BAC1-14AA79AD0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A49F6-743E-4CEC-98E7-763B8A1DA06D}" type="datetimeFigureOut">
              <a:rPr lang="LID4096" smtClean="0"/>
              <a:t>01/06/2026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16F15-05F6-07AE-69B4-0F41C1171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09219-6E18-44C9-6105-F195E183B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CAEC-7AB9-4BC2-8EE7-A01176707F4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70748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EDCD22-4650-EEA7-E6B3-C917D691A7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AC1593-C14E-0DBD-1BFC-AF980AA6C4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001E2-E96F-765D-DF06-ABDBB0772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A49F6-743E-4CEC-98E7-763B8A1DA06D}" type="datetimeFigureOut">
              <a:rPr lang="LID4096" smtClean="0"/>
              <a:t>01/06/2026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44558-F624-7B8B-650A-7805DE087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51FDF-CA3A-C11D-0AE9-0E25E7D56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CAEC-7AB9-4BC2-8EE7-A01176707F4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78495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6EBF6B-D1BF-720A-24B8-579AB18E1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9A9A27-F2C4-C557-B794-C06F44DD1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D13EC-F4DD-A274-A53F-63493ABB46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4A49F6-743E-4CEC-98E7-763B8A1DA06D}" type="datetimeFigureOut">
              <a:rPr lang="LID4096" smtClean="0"/>
              <a:t>01/06/2026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93820-DBAB-0948-A555-FFE5970A2C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EA645-9595-39E6-91DF-FA5EBDDFAF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4ACAEC-7AB9-4BC2-8EE7-A01176707F4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7539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719E2-3530-ACD5-B0F5-9FE175C60E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030" y="1209220"/>
            <a:ext cx="9147940" cy="2337238"/>
          </a:xfrm>
        </p:spPr>
        <p:txBody>
          <a:bodyPr anchor="b">
            <a:normAutofit/>
          </a:bodyPr>
          <a:lstStyle/>
          <a:p>
            <a:r>
              <a:rPr lang="he-IL" sz="5600" dirty="0">
                <a:solidFill>
                  <a:srgbClr val="FFFFFF"/>
                </a:solidFill>
              </a:rPr>
              <a:t>פרויקט מסכם-צד שרת</a:t>
            </a:r>
            <a:endParaRPr lang="LID4096" sz="56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4A932E-ED95-930E-9221-092467D509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2030" y="3605577"/>
            <a:ext cx="9147940" cy="1324303"/>
          </a:xfrm>
        </p:spPr>
        <p:txBody>
          <a:bodyPr anchor="t">
            <a:normAutofit/>
          </a:bodyPr>
          <a:lstStyle/>
          <a:p>
            <a:r>
              <a:rPr lang="he-IL" sz="2000" dirty="0">
                <a:solidFill>
                  <a:srgbClr val="FFFFFF"/>
                </a:solidFill>
              </a:rPr>
              <a:t>מאת: אדל אוקסמן</a:t>
            </a:r>
            <a:endParaRPr lang="LID4096" sz="2000" dirty="0">
              <a:solidFill>
                <a:srgbClr val="FFFFFF"/>
              </a:solidFill>
            </a:endParaRPr>
          </a:p>
        </p:txBody>
      </p:sp>
      <p:sp>
        <p:nvSpPr>
          <p:cNvPr id="10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3877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4A6E84-E423-D5E2-0514-D31944F83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pPr algn="r"/>
            <a:r>
              <a:rPr lang="he-IL" dirty="0"/>
              <a:t>קצת על הפרויקט:</a:t>
            </a:r>
            <a:endParaRPr lang="LID4096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669DF-F093-087E-AF23-E5D63C1BE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362" y="1825625"/>
            <a:ext cx="5929328" cy="4351338"/>
          </a:xfrm>
        </p:spPr>
        <p:txBody>
          <a:bodyPr>
            <a:normAutofit fontScale="92500" lnSpcReduction="10000"/>
          </a:bodyPr>
          <a:lstStyle/>
          <a:p>
            <a:pPr algn="r" rtl="1"/>
            <a:r>
              <a:rPr lang="he-IL" sz="1800" dirty="0"/>
              <a:t>הפרויקט הזה הוא מערכת צד-שרת שבניתי באמצעות </a:t>
            </a:r>
            <a:r>
              <a:rPr lang="en-US" sz="1800" dirty="0"/>
              <a:t>  </a:t>
            </a:r>
          </a:p>
          <a:p>
            <a:pPr algn="r" rtl="1"/>
            <a:r>
              <a:rPr lang="en-US" sz="1800" dirty="0"/>
              <a:t>Node.js &amp; Express</a:t>
            </a:r>
          </a:p>
          <a:p>
            <a:pPr algn="r" rtl="1"/>
            <a:r>
              <a:rPr lang="he-IL" sz="1800" dirty="0"/>
              <a:t>ומטרתה לנהל משתמשים והרשאות גישה בצורה חכמה ומסודרת. המערכת בנויה בארכיטקטורת שכבות מקצועית</a:t>
            </a:r>
            <a:r>
              <a:rPr lang="en-US" sz="1800" dirty="0"/>
              <a:t>MVC </a:t>
            </a:r>
            <a:r>
              <a:rPr lang="he-IL" sz="1800" dirty="0"/>
              <a:t> כך שהקוד מחולק בצורה לוגית ונוחה לתחזוקה: יש הפרדה ברורה בין שמירת הנתונים</a:t>
            </a:r>
            <a:r>
              <a:rPr lang="en-US" sz="1800" dirty="0"/>
              <a:t>:</a:t>
            </a:r>
            <a:r>
              <a:rPr lang="he-IL" sz="1800" dirty="0"/>
              <a:t> </a:t>
            </a:r>
            <a:r>
              <a:rPr lang="en-US" sz="1800" dirty="0"/>
              <a:t>Models </a:t>
            </a:r>
          </a:p>
          <a:p>
            <a:pPr algn="r" rtl="1"/>
            <a:r>
              <a:rPr lang="he-IL" sz="1800" dirty="0"/>
              <a:t>הלוגיקה שמטפלת בהם </a:t>
            </a:r>
            <a:r>
              <a:rPr lang="en-US" sz="1800" dirty="0"/>
              <a:t> Controllers</a:t>
            </a:r>
          </a:p>
          <a:p>
            <a:pPr algn="r" rtl="1"/>
            <a:r>
              <a:rPr lang="he-IL" sz="1800" dirty="0"/>
              <a:t>והנתיבים בשרת</a:t>
            </a:r>
            <a:r>
              <a:rPr lang="en-US" sz="1800" dirty="0"/>
              <a:t>Routers </a:t>
            </a:r>
            <a:endParaRPr lang="he-IL" sz="1800" dirty="0"/>
          </a:p>
          <a:p>
            <a:pPr algn="r" rtl="1"/>
            <a:r>
              <a:rPr lang="he-IL" sz="1800" dirty="0"/>
              <a:t>הפרויקט תומך באופן מלא בכל פעולות הניהול המרכזיות (יצירה, קריאה, עדכון ומחיקה.) הפעולות הללו מתבצעות על שלוש ישויות שונות: ניהול משתמשים, ניהול סוגי הרשאות, וטבלה המקשרת בין משתמשים להרשאות הספציפיות שלהם. הנתונים נשמרים בבסיס נתונים מסוג </a:t>
            </a:r>
            <a:r>
              <a:rPr lang="en-US" sz="1800" dirty="0"/>
              <a:t>MySQL</a:t>
            </a:r>
            <a:r>
              <a:rPr lang="he-IL" sz="1800" dirty="0"/>
              <a:t> המערכת משתמשת בשאילתות </a:t>
            </a:r>
            <a:r>
              <a:rPr lang="en-US" sz="1800" dirty="0"/>
              <a:t>SQL </a:t>
            </a:r>
            <a:r>
              <a:rPr lang="he-IL" sz="1800" dirty="0"/>
              <a:t>לביצוע פעולות </a:t>
            </a:r>
            <a:r>
              <a:rPr lang="en-US" sz="1800" dirty="0"/>
              <a:t>CRUD </a:t>
            </a:r>
            <a:r>
              <a:rPr lang="he-IL" sz="1800" dirty="0"/>
              <a:t>ומנהלת קשרים בין הטבלאות (</a:t>
            </a:r>
            <a:r>
              <a:rPr lang="en-US" sz="1800" dirty="0"/>
              <a:t>Users, Permissions, </a:t>
            </a:r>
            <a:r>
              <a:rPr lang="en-US" sz="1800" dirty="0" err="1"/>
              <a:t>User_Permissions</a:t>
            </a:r>
            <a:r>
              <a:rPr lang="en-US" sz="1800" dirty="0"/>
              <a:t>) </a:t>
            </a:r>
            <a:r>
              <a:rPr lang="he-IL" sz="1800" dirty="0"/>
              <a:t>כדי לאפשר ניהול הרשאות דינמי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Block Arc 25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358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A511A7-6686-477D-1350-BDDD7FE85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he-IL" sz="8000">
                <a:solidFill>
                  <a:srgbClr val="FFFFFF"/>
                </a:solidFill>
              </a:rPr>
              <a:t>מבנה הפרויקט</a:t>
            </a:r>
            <a:endParaRPr lang="LID4096" sz="8000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CE4DA-6E46-D961-27AB-A4F826409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2337" y="8878"/>
            <a:ext cx="5983288" cy="6849122"/>
          </a:xfrm>
        </p:spPr>
        <p:txBody>
          <a:bodyPr anchor="ctr">
            <a:normAutofit/>
          </a:bodyPr>
          <a:lstStyle/>
          <a:p>
            <a:r>
              <a:rPr lang="en-US" sz="1100" b="1" dirty="0">
                <a:solidFill>
                  <a:schemeClr val="tx1">
                    <a:alpha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my-server-project/</a:t>
            </a:r>
          </a:p>
          <a:p>
            <a:r>
              <a:rPr lang="en-US" sz="1100" b="1" dirty="0">
                <a:solidFill>
                  <a:schemeClr val="tx1">
                    <a:alpha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│</a:t>
            </a:r>
          </a:p>
          <a:p>
            <a:r>
              <a:rPr lang="en-US" sz="1100" b="1" dirty="0">
                <a:solidFill>
                  <a:schemeClr val="tx1">
                    <a:alpha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├── controllers/   (</a:t>
            </a:r>
            <a:r>
              <a:rPr lang="he-IL" sz="1100" b="1" dirty="0">
                <a:solidFill>
                  <a:schemeClr val="tx1">
                    <a:alpha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לוגיקה עסקית - </a:t>
            </a:r>
            <a:r>
              <a:rPr lang="en-US" sz="1100" b="1" dirty="0">
                <a:solidFill>
                  <a:schemeClr val="tx1">
                    <a:alpha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CRUD)</a:t>
            </a:r>
          </a:p>
          <a:p>
            <a:r>
              <a:rPr lang="en-US" sz="1100" b="1" dirty="0">
                <a:solidFill>
                  <a:schemeClr val="tx1">
                    <a:alpha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│   ├── permissions.controller.js</a:t>
            </a:r>
          </a:p>
          <a:p>
            <a:r>
              <a:rPr lang="en-US" sz="1100" b="1" dirty="0">
                <a:solidFill>
                  <a:schemeClr val="tx1">
                    <a:alpha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│   ├── userPermissions.controller.js</a:t>
            </a:r>
          </a:p>
          <a:p>
            <a:r>
              <a:rPr lang="en-US" sz="1100" b="1" dirty="0">
                <a:solidFill>
                  <a:schemeClr val="tx1">
                    <a:alpha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│   └── users.controller.js</a:t>
            </a:r>
          </a:p>
          <a:p>
            <a:r>
              <a:rPr lang="en-US" sz="1100" b="1" dirty="0">
                <a:solidFill>
                  <a:schemeClr val="tx1">
                    <a:alpha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│</a:t>
            </a:r>
          </a:p>
          <a:p>
            <a:r>
              <a:rPr lang="en-US" sz="1100" b="1" dirty="0">
                <a:solidFill>
                  <a:schemeClr val="tx1">
                    <a:alpha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├── middleware/</a:t>
            </a:r>
          </a:p>
          <a:p>
            <a:r>
              <a:rPr lang="en-US" sz="1100" b="1" dirty="0">
                <a:solidFill>
                  <a:schemeClr val="tx1">
                    <a:alpha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│   └── server.js   (</a:t>
            </a:r>
            <a:r>
              <a:rPr lang="he-IL" sz="1100" b="1" dirty="0">
                <a:solidFill>
                  <a:schemeClr val="tx1">
                    <a:alpha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נקודת הכניסה והגדרות שרת)</a:t>
            </a:r>
          </a:p>
          <a:p>
            <a:r>
              <a:rPr lang="he-IL" sz="1100" b="1" dirty="0">
                <a:solidFill>
                  <a:schemeClr val="tx1">
                    <a:alpha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│</a:t>
            </a:r>
          </a:p>
          <a:p>
            <a:r>
              <a:rPr lang="he-IL" sz="1100" b="1" dirty="0">
                <a:solidFill>
                  <a:schemeClr val="tx1">
                    <a:alpha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├── </a:t>
            </a:r>
            <a:r>
              <a:rPr lang="en-US" sz="1100" b="1" dirty="0">
                <a:solidFill>
                  <a:schemeClr val="tx1">
                    <a:alpha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models/        (</a:t>
            </a:r>
            <a:r>
              <a:rPr lang="he-IL" sz="1100" b="1" dirty="0">
                <a:solidFill>
                  <a:schemeClr val="tx1">
                    <a:alpha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שאילתות </a:t>
            </a:r>
            <a:r>
              <a:rPr lang="en-US" sz="1100" b="1" dirty="0">
                <a:solidFill>
                  <a:schemeClr val="tx1">
                    <a:alpha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SQL)</a:t>
            </a:r>
          </a:p>
          <a:p>
            <a:r>
              <a:rPr lang="en-US" sz="1100" b="1" dirty="0">
                <a:solidFill>
                  <a:schemeClr val="tx1">
                    <a:alpha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│   ├── permissions.model.js</a:t>
            </a:r>
          </a:p>
          <a:p>
            <a:r>
              <a:rPr lang="en-US" sz="1100" b="1" dirty="0">
                <a:solidFill>
                  <a:schemeClr val="tx1">
                    <a:alpha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│   ├── userPermissions.model.js</a:t>
            </a:r>
          </a:p>
          <a:p>
            <a:r>
              <a:rPr lang="en-US" sz="1100" b="1" dirty="0">
                <a:solidFill>
                  <a:schemeClr val="tx1">
                    <a:alpha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│   └── users.model.js</a:t>
            </a:r>
          </a:p>
          <a:p>
            <a:r>
              <a:rPr lang="en-US" sz="1100" b="1" dirty="0">
                <a:solidFill>
                  <a:schemeClr val="tx1">
                    <a:alpha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│</a:t>
            </a:r>
          </a:p>
          <a:p>
            <a:r>
              <a:rPr lang="en-US" sz="1100" b="1" dirty="0">
                <a:solidFill>
                  <a:schemeClr val="tx1">
                    <a:alpha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├── routers/       (</a:t>
            </a:r>
            <a:r>
              <a:rPr lang="he-IL" sz="1100" b="1" dirty="0">
                <a:solidFill>
                  <a:schemeClr val="tx1">
                    <a:alpha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ניתוב בקשות)</a:t>
            </a:r>
          </a:p>
          <a:p>
            <a:r>
              <a:rPr lang="he-IL" sz="1100" b="1" dirty="0">
                <a:solidFill>
                  <a:schemeClr val="tx1">
                    <a:alpha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│   ├── </a:t>
            </a:r>
            <a:r>
              <a:rPr lang="en-US" sz="1100" b="1" dirty="0">
                <a:solidFill>
                  <a:schemeClr val="tx1">
                    <a:alpha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permissions.router.js</a:t>
            </a:r>
          </a:p>
          <a:p>
            <a:r>
              <a:rPr lang="en-US" sz="1100" b="1" dirty="0">
                <a:solidFill>
                  <a:schemeClr val="tx1">
                    <a:alpha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│   ├── userPermissions.router.js</a:t>
            </a:r>
          </a:p>
          <a:p>
            <a:r>
              <a:rPr lang="en-US" sz="1100" b="1" dirty="0">
                <a:solidFill>
                  <a:schemeClr val="tx1">
                    <a:alpha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│   └── users.router.js</a:t>
            </a:r>
          </a:p>
          <a:p>
            <a:r>
              <a:rPr lang="en-US" sz="1100" b="1" dirty="0">
                <a:solidFill>
                  <a:schemeClr val="tx1">
                    <a:alpha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│</a:t>
            </a:r>
          </a:p>
          <a:p>
            <a:r>
              <a:rPr lang="en-US" sz="1100" b="1" dirty="0">
                <a:solidFill>
                  <a:schemeClr val="tx1">
                    <a:alpha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├── db.js          (</a:t>
            </a:r>
            <a:r>
              <a:rPr lang="he-IL" sz="1100" b="1" dirty="0">
                <a:solidFill>
                  <a:schemeClr val="tx1">
                    <a:alpha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חיבור למסד הנתונים </a:t>
            </a:r>
            <a:r>
              <a:rPr lang="en-US" sz="1100" b="1" dirty="0">
                <a:solidFill>
                  <a:schemeClr val="tx1">
                    <a:alpha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MySQL)</a:t>
            </a:r>
          </a:p>
          <a:p>
            <a:r>
              <a:rPr lang="en-US" sz="1100" b="1" dirty="0">
                <a:solidFill>
                  <a:schemeClr val="tx1">
                    <a:alpha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├── </a:t>
            </a:r>
            <a:r>
              <a:rPr lang="en-US" sz="1100" b="1" dirty="0" err="1">
                <a:solidFill>
                  <a:schemeClr val="tx1">
                    <a:alpha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package.json</a:t>
            </a:r>
            <a:endParaRPr lang="en-US" sz="1100" b="1" dirty="0">
              <a:solidFill>
                <a:schemeClr val="tx1">
                  <a:alpha val="8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705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2D0871-2D8A-2749-20F4-A1B663DC0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537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1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ויזואליזציה גרפית</a:t>
            </a:r>
            <a:r>
              <a:rPr lang="he-IL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(בעזרת </a:t>
            </a: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AI</a:t>
            </a:r>
            <a:r>
              <a:rPr lang="he-IL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)</a:t>
            </a: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C309AC-3F5F-C62A-7FD3-538DB1758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3AFE55-40E6-904A-8343-483D8B5D7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030" y="1825625"/>
            <a:ext cx="9753600" cy="489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115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FBE89-DA8A-5EA8-6156-639D556B3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localhost:300/users</a:t>
            </a: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A57CC2-D537-D9E1-25A9-A3BA7EEDE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EBAE86-EEF7-38B5-5BA2-33510E6CB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" y="1816017"/>
            <a:ext cx="12179926" cy="322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813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954965-1BFA-75A8-3BCF-E332B35A4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8D3B43-562A-D22D-42A7-B55E51A5B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localhost:300/user-</a:t>
            </a:r>
            <a:r>
              <a:rPr lang="en-US" sz="3200" dirty="0">
                <a:solidFill>
                  <a:schemeClr val="bg1"/>
                </a:solidFill>
              </a:rPr>
              <a:t>permissions</a:t>
            </a: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015D5E-9A24-5D3C-720F-0F40A5F89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39E4BA-A86B-AAB9-CFA1-FAF4FB3E8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" y="2390721"/>
            <a:ext cx="12179926" cy="207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219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CA6E72-C1BB-CF02-2FE9-FE80F81A4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rtl="1"/>
            <a:r>
              <a:rPr lang="en-US" sz="2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בשביל</a:t>
            </a:r>
            <a:r>
              <a:rPr lang="en-US" sz="2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לא</a:t>
            </a:r>
            <a:r>
              <a:rPr lang="en-US" sz="2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להוריד</a:t>
            </a:r>
            <a:r>
              <a:rPr lang="en-US" sz="2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POSTMAN </a:t>
            </a:r>
            <a:r>
              <a:rPr lang="en-US" sz="2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ביצעתי</a:t>
            </a:r>
            <a:r>
              <a:rPr lang="en-US" sz="2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את</a:t>
            </a:r>
            <a:r>
              <a:rPr lang="en-US" sz="2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כל</a:t>
            </a:r>
            <a:r>
              <a:rPr lang="en-US" sz="2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הבדיקות</a:t>
            </a:r>
            <a:r>
              <a:rPr lang="en-US" sz="2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דרך</a:t>
            </a:r>
            <a:r>
              <a:rPr lang="en-US" sz="2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קונסולה</a:t>
            </a:r>
            <a:r>
              <a:rPr lang="en-US" sz="2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של</a:t>
            </a:r>
            <a:r>
              <a:rPr lang="en-US" sz="2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הדפדפן</a:t>
            </a:r>
            <a:r>
              <a:rPr lang="en-US" sz="2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כדי</a:t>
            </a:r>
            <a:r>
              <a:rPr lang="en-US" sz="2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לשלוח</a:t>
            </a:r>
            <a:r>
              <a:rPr lang="en-US" sz="2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את</a:t>
            </a:r>
            <a:r>
              <a:rPr lang="en-US" sz="2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הבקשות</a:t>
            </a:r>
            <a:endParaRPr lang="en-US" sz="25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828F64-E4D7-A892-E006-E3F1988C0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D1B9AC-7B2F-65BD-C004-6586C0D54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7" y="1724628"/>
            <a:ext cx="11970365" cy="513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655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127610-4473-2500-ECA7-CAE1AF905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37C0726-1C4B-856B-16E4-FB723CCAF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8742F77-F55B-589B-8970-2EE14F62F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97C924-E1F4-A4A1-7223-35B769851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rtl="1"/>
            <a:r>
              <a:rPr lang="he-IL" sz="2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בדיקות חלק 1</a:t>
            </a:r>
            <a:endParaRPr lang="en-US" sz="25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D66411-2578-0718-3F01-EBF608D66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6E8BAD-A922-8A49-AE76-4893ACC0F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4156"/>
            <a:ext cx="12192000" cy="528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646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C3AFAA-024E-772E-CD0F-341789ADC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351E4F-B5F1-4EEA-A74E-46D3AF698C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F2F4D42-48D9-7C44-DD46-5E5E52DBE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229027-2CAD-1A6A-B353-98FF70A23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rtl="1"/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בדיקות-חלק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he-IL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8DE9AE-912F-374D-72E0-AD144A4A1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BA82D9-4D19-D2CC-6B02-C292B6DDB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9310"/>
            <a:ext cx="12192000" cy="5120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46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FF6AE0-450F-A94C-24A3-33067527D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rtl="1"/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בדיקות-חלק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he-IL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096676-A5C2-28A8-A501-BA4B1935B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F61A72-2CFD-215D-DFD2-B0017CB62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95" y="1685581"/>
            <a:ext cx="12192000" cy="528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568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4DD8F1-A7A6-778D-76CE-86AE31C5A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Design Patterns</a:t>
            </a:r>
            <a:endParaRPr lang="en-IL">
              <a:solidFill>
                <a:srgbClr val="FFFFFF"/>
              </a:solidFill>
            </a:endParaRP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A6129B-9EF4-BD43-207B-D6ABA27621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7308" y="591344"/>
            <a:ext cx="6906491" cy="5585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r" defTabSz="914400" rtl="1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IL" sz="2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:</a:t>
            </a:r>
            <a:r>
              <a:rPr kumimoji="0" lang="en-IL" altLang="en-IL" sz="2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MVC Architecture</a:t>
            </a:r>
            <a:r>
              <a:rPr kumimoji="0" lang="en-IL" altLang="en-IL" sz="2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e-IL" altLang="en-IL" sz="2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הפרויקט בנוי בארכיטקטורת</a:t>
            </a:r>
            <a:r>
              <a:rPr kumimoji="0" lang="en-IL" altLang="en-IL" sz="2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MVC </a:t>
            </a:r>
            <a:r>
              <a:rPr kumimoji="0" lang="he-IL" altLang="en-IL" sz="2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המפרידה בין שכבת הנתונים</a:t>
            </a:r>
            <a:r>
              <a:rPr kumimoji="0" lang="en-IL" altLang="en-IL" sz="2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(Models), </a:t>
            </a:r>
            <a:r>
              <a:rPr kumimoji="0" lang="he-IL" altLang="en-IL" sz="2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הלוגיקה העסקית</a:t>
            </a:r>
            <a:r>
              <a:rPr kumimoji="0" lang="en-IL" altLang="en-IL" sz="2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(Controllers) </a:t>
            </a:r>
            <a:r>
              <a:rPr kumimoji="0" lang="he-IL" altLang="en-IL" sz="2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והניתוב</a:t>
            </a:r>
            <a:r>
              <a:rPr kumimoji="0" lang="en-IL" altLang="en-IL" sz="2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(Routers). </a:t>
            </a:r>
            <a:r>
              <a:rPr kumimoji="0" lang="he-IL" altLang="en-IL" sz="2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הפרדה זו מאפשרת תחזוקה קלה וסדר בארגון הקוד</a:t>
            </a:r>
            <a:r>
              <a:rPr kumimoji="0" lang="en-IL" altLang="en-IL" sz="2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algn="r" rt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IL" sz="2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kumimoji="0" lang="en-IL" altLang="en-IL" sz="2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Singleton Pattern</a:t>
            </a:r>
            <a:r>
              <a:rPr kumimoji="0" lang="he-IL" altLang="en-IL" sz="2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קובץ החיבור למסד הנתונים</a:t>
            </a:r>
            <a:r>
              <a:rPr kumimoji="0" lang="en-IL" altLang="en-IL" sz="2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</a:t>
            </a:r>
            <a:r>
              <a:rPr kumimoji="0" lang="en-IL" altLang="en-IL" sz="26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db.js</a:t>
            </a:r>
            <a:r>
              <a:rPr kumimoji="0" lang="en-IL" altLang="en-IL" sz="2600" b="0" i="0" u="none" strike="noStrike" cap="none" normalizeH="0" baseline="0" dirty="0">
                <a:ln>
                  <a:noFill/>
                </a:ln>
                <a:effectLst/>
              </a:rPr>
              <a:t>) </a:t>
            </a:r>
            <a:r>
              <a:rPr kumimoji="0" lang="he-IL" altLang="en-IL" sz="2600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מיושם כ</a:t>
            </a:r>
            <a:r>
              <a:rPr lang="en-US" altLang="en-IL" sz="2600" dirty="0">
                <a:cs typeface="Arial" panose="020B0604020202020204" pitchFamily="34" charset="0"/>
              </a:rPr>
              <a:t> </a:t>
            </a:r>
            <a:r>
              <a:rPr kumimoji="0" lang="en-IL" altLang="en-IL" sz="2600" b="0" i="0" u="none" strike="noStrike" cap="none" normalizeH="0" baseline="0" dirty="0">
                <a:ln>
                  <a:noFill/>
                </a:ln>
                <a:effectLst/>
              </a:rPr>
              <a:t>Singleton</a:t>
            </a:r>
            <a:r>
              <a:rPr kumimoji="0" lang="he-IL" altLang="en-IL" sz="2600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נוצר מופע חיבור יחיד</a:t>
            </a:r>
            <a:r>
              <a:rPr kumimoji="0" lang="en-IL" altLang="en-IL" sz="2600" b="0" i="0" u="none" strike="noStrike" cap="none" normalizeH="0" baseline="0" dirty="0">
                <a:ln>
                  <a:noFill/>
                </a:ln>
                <a:effectLst/>
              </a:rPr>
              <a:t> (Instance) </a:t>
            </a:r>
            <a:r>
              <a:rPr kumimoji="0" lang="he-IL" altLang="en-IL" sz="2600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שמשותף לכל חלקי האפליקציה</a:t>
            </a:r>
            <a:r>
              <a:rPr kumimoji="0" lang="ar-SA" altLang="en-IL" sz="2600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, </a:t>
            </a:r>
            <a:r>
              <a:rPr kumimoji="0" lang="he-IL" altLang="en-IL" sz="2600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מה שחוסך במשאבי מערכת ומונע ריבוי חיבורים מיותרים ל</a:t>
            </a:r>
            <a:r>
              <a:rPr kumimoji="0" lang="en-IL" altLang="en-IL" sz="2600" b="0" i="0" u="none" strike="noStrike" cap="none" normalizeH="0" baseline="0" dirty="0">
                <a:ln>
                  <a:noFill/>
                </a:ln>
                <a:effectLst/>
              </a:rPr>
              <a:t>MySQL.</a:t>
            </a:r>
            <a:endParaRPr kumimoji="0" lang="en-IL" altLang="en-IL" sz="2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IL" sz="2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:</a:t>
            </a:r>
            <a:r>
              <a:rPr kumimoji="0" lang="en-IL" altLang="en-IL" sz="2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Callback Pattern</a:t>
            </a:r>
            <a:r>
              <a:rPr kumimoji="0" lang="en-IL" altLang="en-IL" sz="2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e-IL" altLang="en-IL" sz="2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שימוש נרחב ב</a:t>
            </a:r>
            <a:r>
              <a:rPr lang="en-US" altLang="en-IL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IL" altLang="en-IL" sz="2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Callbacks </a:t>
            </a:r>
            <a:r>
              <a:rPr kumimoji="0" lang="he-IL" altLang="en-IL" sz="2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לטיפול בפעולות א-סינכרוניות מול מסד הנתונים, להבטחת זרימת נתונים תקינה ומניעת חסימות</a:t>
            </a:r>
            <a:r>
              <a:rPr kumimoji="0" lang="en-IL" altLang="en-IL" sz="2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(Non-blocking I/O).</a:t>
            </a:r>
          </a:p>
        </p:txBody>
      </p:sp>
    </p:spTree>
    <p:extLst>
      <p:ext uri="{BB962C8B-B14F-4D97-AF65-F5344CB8AC3E}">
        <p14:creationId xmlns:p14="http://schemas.microsoft.com/office/powerpoint/2010/main" val="944081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498861-0E5F-E1D8-4111-CFFE8044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10" y="1598246"/>
            <a:ext cx="4626709" cy="51229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תודה</a:t>
            </a:r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8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על</a:t>
            </a:r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8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ההקשבה</a:t>
            </a:r>
            <a:endParaRPr lang="en-US" sz="8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26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397</Words>
  <Application>Microsoft Office PowerPoint</Application>
  <PresentationFormat>Widescreen</PresentationFormat>
  <Paragraphs>45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Aharoni</vt:lpstr>
      <vt:lpstr>Aptos</vt:lpstr>
      <vt:lpstr>Aptos Display</vt:lpstr>
      <vt:lpstr>Arial</vt:lpstr>
      <vt:lpstr>Arial Unicode MS</vt:lpstr>
      <vt:lpstr>Office Theme</vt:lpstr>
      <vt:lpstr>פרויקט מסכם-צד שרת</vt:lpstr>
      <vt:lpstr>קצת על הפרויקט:</vt:lpstr>
      <vt:lpstr>מבנה הפרויקט</vt:lpstr>
      <vt:lpstr>ויזואליזציה גרפית(בעזרת AI)</vt:lpstr>
      <vt:lpstr>localhost:300/users</vt:lpstr>
      <vt:lpstr>localhost:300/user-permissions</vt:lpstr>
      <vt:lpstr>בשביל לא להוריד POSTMAN ביצעתי את כל הבדיקות דרך קונסולה של הדפדפן כדי לשלוח את הבקשות</vt:lpstr>
      <vt:lpstr>בדיקות חלק 1</vt:lpstr>
      <vt:lpstr>בדיקות-חלק 2</vt:lpstr>
      <vt:lpstr>בדיקות-חלק 3</vt:lpstr>
      <vt:lpstr>Design Patterns</vt:lpstr>
      <vt:lpstr>תודה על ההקשבה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Adele </dc:creator>
  <cp:lastModifiedBy>Adele </cp:lastModifiedBy>
  <cp:revision>5</cp:revision>
  <dcterms:created xsi:type="dcterms:W3CDTF">2025-12-16T14:02:57Z</dcterms:created>
  <dcterms:modified xsi:type="dcterms:W3CDTF">2026-01-06T09:19:19Z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0a81dea-4d6c-46c2-b66b-652ec1fb581d_Enabled">
    <vt:lpwstr>true</vt:lpwstr>
  </property>
  <property fmtid="{D5CDD505-2E9C-101B-9397-08002B2CF9AE}" pid="3" name="MSIP_Label_00a81dea-4d6c-46c2-b66b-652ec1fb581d_SetDate">
    <vt:lpwstr>2025-12-16T14:18:58Z</vt:lpwstr>
  </property>
  <property fmtid="{D5CDD505-2E9C-101B-9397-08002B2CF9AE}" pid="4" name="MSIP_Label_00a81dea-4d6c-46c2-b66b-652ec1fb581d_Method">
    <vt:lpwstr>Standard</vt:lpwstr>
  </property>
  <property fmtid="{D5CDD505-2E9C-101B-9397-08002B2CF9AE}" pid="5" name="MSIP_Label_00a81dea-4d6c-46c2-b66b-652ec1fb581d_Name">
    <vt:lpwstr>הצפנת קבצים והודעות דואר אלקטרוני</vt:lpwstr>
  </property>
  <property fmtid="{D5CDD505-2E9C-101B-9397-08002B2CF9AE}" pid="6" name="MSIP_Label_00a81dea-4d6c-46c2-b66b-652ec1fb581d_SiteId">
    <vt:lpwstr>d84846a7-3371-4e86-afe6-dc8d9d7a3299</vt:lpwstr>
  </property>
  <property fmtid="{D5CDD505-2E9C-101B-9397-08002B2CF9AE}" pid="7" name="MSIP_Label_00a81dea-4d6c-46c2-b66b-652ec1fb581d_ActionId">
    <vt:lpwstr>e86b8908-0363-453a-aa55-697d9db341e3</vt:lpwstr>
  </property>
  <property fmtid="{D5CDD505-2E9C-101B-9397-08002B2CF9AE}" pid="8" name="MSIP_Label_00a81dea-4d6c-46c2-b66b-652ec1fb581d_ContentBits">
    <vt:lpwstr>0</vt:lpwstr>
  </property>
  <property fmtid="{D5CDD505-2E9C-101B-9397-08002B2CF9AE}" pid="9" name="MSIP_Label_00a81dea-4d6c-46c2-b66b-652ec1fb581d_Tag">
    <vt:lpwstr>10, 3, 0, 1</vt:lpwstr>
  </property>
</Properties>
</file>